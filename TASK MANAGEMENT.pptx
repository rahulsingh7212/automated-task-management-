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9" r:id="rId1"/>
  </p:sldMasterIdLst>
  <p:notesMasterIdLst>
    <p:notesMasterId r:id="rId12"/>
  </p:notesMasterIdLst>
  <p:sldIdLst>
    <p:sldId id="283" r:id="rId2"/>
    <p:sldId id="256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86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1E5F71-4A14-4229-8DF3-9A7E61CC5A63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31756-44F9-4E05-AE2A-B349F5704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53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694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87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946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977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72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134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512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740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11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233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6602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214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2227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043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975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203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C9749C-C760-4181-B861-5856A8E4E9E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D4922EF-A426-4F61-A077-426AC41A2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14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  <p:sldLayoutId id="2147483871" r:id="rId12"/>
    <p:sldLayoutId id="2147483872" r:id="rId13"/>
    <p:sldLayoutId id="2147483873" r:id="rId14"/>
    <p:sldLayoutId id="2147483874" r:id="rId15"/>
    <p:sldLayoutId id="21474838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DC012-616D-E4BA-C261-6887BBBDB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8D400B-EB24-FAD8-F451-2E4DA1B50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802558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611844-66D5-C6D2-8F95-E8EAB0580D13}"/>
              </a:ext>
            </a:extLst>
          </p:cNvPr>
          <p:cNvSpPr txBox="1"/>
          <p:nvPr/>
        </p:nvSpPr>
        <p:spPr>
          <a:xfrm>
            <a:off x="6096000" y="1905506"/>
            <a:ext cx="55517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AUTOMATED TASK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979160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0"/>
                <a:lumOff val="10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071D8D6-668B-EE2D-C127-9D355C0AF2FB}"/>
              </a:ext>
            </a:extLst>
          </p:cNvPr>
          <p:cNvSpPr/>
          <p:nvPr/>
        </p:nvSpPr>
        <p:spPr>
          <a:xfrm>
            <a:off x="5431993" y="239203"/>
            <a:ext cx="5682303" cy="6824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3600" b="1" spc="-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584EEF9-D425-56EB-C67B-D34DE4116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37592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168D40-20F1-C191-C3A1-A673AD6A35E8}"/>
              </a:ext>
            </a:extLst>
          </p:cNvPr>
          <p:cNvSpPr txBox="1"/>
          <p:nvPr/>
        </p:nvSpPr>
        <p:spPr>
          <a:xfrm>
            <a:off x="3862316" y="921657"/>
            <a:ext cx="820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Many individuals face difficulties in managing tasks and meeting deadlines when relying on manual tracking methods. The lack of automated reminders often results in: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A4250-4CC2-39D0-53C5-575C0D6EE30C}"/>
              </a:ext>
            </a:extLst>
          </p:cNvPr>
          <p:cNvSpPr txBox="1"/>
          <p:nvPr/>
        </p:nvSpPr>
        <p:spPr>
          <a:xfrm>
            <a:off x="4081882" y="2399386"/>
            <a:ext cx="79827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Missed deadlines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Decreased productivity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Ineffective time management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Difficulty in prioritizing tasks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real-time updates on task progress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Irregular follow-up on important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5967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31511-F271-4873-0B9B-37DEA2275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BF0CB633-1AF6-3DEC-C9E1-8334C87DE188}"/>
              </a:ext>
            </a:extLst>
          </p:cNvPr>
          <p:cNvSpPr/>
          <p:nvPr/>
        </p:nvSpPr>
        <p:spPr>
          <a:xfrm>
            <a:off x="2474725" y="390519"/>
            <a:ext cx="6299160" cy="6399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3600" b="1" spc="-1" dirty="0">
                <a:solidFill>
                  <a:schemeClr val="accent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898C8E-2644-E419-53F7-B55EB73CF0D9}"/>
              </a:ext>
            </a:extLst>
          </p:cNvPr>
          <p:cNvSpPr/>
          <p:nvPr/>
        </p:nvSpPr>
        <p:spPr>
          <a:xfrm>
            <a:off x="493484" y="1621968"/>
            <a:ext cx="3323771" cy="180702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9E2CE-DB63-5311-9D04-EEA1B9E97A56}"/>
              </a:ext>
            </a:extLst>
          </p:cNvPr>
          <p:cNvSpPr/>
          <p:nvPr/>
        </p:nvSpPr>
        <p:spPr>
          <a:xfrm>
            <a:off x="4299855" y="1638588"/>
            <a:ext cx="3323771" cy="180702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2410E3-6CC8-BB66-AC2A-433F03CF0361}"/>
              </a:ext>
            </a:extLst>
          </p:cNvPr>
          <p:cNvSpPr/>
          <p:nvPr/>
        </p:nvSpPr>
        <p:spPr>
          <a:xfrm>
            <a:off x="8106227" y="1621969"/>
            <a:ext cx="3323771" cy="180702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1EDBDC-54C4-DDDC-A7E4-7FF04A6871AE}"/>
              </a:ext>
            </a:extLst>
          </p:cNvPr>
          <p:cNvSpPr/>
          <p:nvPr/>
        </p:nvSpPr>
        <p:spPr>
          <a:xfrm>
            <a:off x="493485" y="4020452"/>
            <a:ext cx="3323771" cy="180702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91CA72-333B-4AF2-571E-951FE3B8D4F2}"/>
              </a:ext>
            </a:extLst>
          </p:cNvPr>
          <p:cNvSpPr/>
          <p:nvPr/>
        </p:nvSpPr>
        <p:spPr>
          <a:xfrm>
            <a:off x="4299856" y="4020452"/>
            <a:ext cx="3323771" cy="180702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ED3CC3-8569-8822-9DF5-DF28B42E9E8F}"/>
              </a:ext>
            </a:extLst>
          </p:cNvPr>
          <p:cNvSpPr/>
          <p:nvPr/>
        </p:nvSpPr>
        <p:spPr>
          <a:xfrm>
            <a:off x="8048171" y="4020451"/>
            <a:ext cx="3323771" cy="180702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E6ACF3-550B-F2F3-50A6-AC1A794F8EA2}"/>
              </a:ext>
            </a:extLst>
          </p:cNvPr>
          <p:cNvSpPr txBox="1"/>
          <p:nvPr/>
        </p:nvSpPr>
        <p:spPr>
          <a:xfrm>
            <a:off x="680314" y="1661175"/>
            <a:ext cx="2728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Task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B4F07A-4E50-27EA-6781-84A7A35C118B}"/>
              </a:ext>
            </a:extLst>
          </p:cNvPr>
          <p:cNvSpPr txBox="1"/>
          <p:nvPr/>
        </p:nvSpPr>
        <p:spPr>
          <a:xfrm>
            <a:off x="637986" y="2268087"/>
            <a:ext cx="30347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Enable users to create, update, delete, and organize tasks seamlessly.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77B7B-440F-EC79-6480-872C02A34F1E}"/>
              </a:ext>
            </a:extLst>
          </p:cNvPr>
          <p:cNvSpPr txBox="1"/>
          <p:nvPr/>
        </p:nvSpPr>
        <p:spPr>
          <a:xfrm>
            <a:off x="4462272" y="1661175"/>
            <a:ext cx="299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Automated Reminders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CA1D70-923D-DA7B-DBC3-96AB3D88B4D5}"/>
              </a:ext>
            </a:extLst>
          </p:cNvPr>
          <p:cNvSpPr txBox="1"/>
          <p:nvPr/>
        </p:nvSpPr>
        <p:spPr>
          <a:xfrm>
            <a:off x="4399945" y="2348040"/>
            <a:ext cx="3123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Automatically send email notifications for upcoming and overdue tasks.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8F6434-0340-CAB5-499C-510EED34E00C}"/>
              </a:ext>
            </a:extLst>
          </p:cNvPr>
          <p:cNvSpPr txBox="1"/>
          <p:nvPr/>
        </p:nvSpPr>
        <p:spPr>
          <a:xfrm>
            <a:off x="8185709" y="1661175"/>
            <a:ext cx="3186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User Authentication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1A7418-9669-E3C4-7694-DCBF1C8A0943}"/>
              </a:ext>
            </a:extLst>
          </p:cNvPr>
          <p:cNvSpPr txBox="1"/>
          <p:nvPr/>
        </p:nvSpPr>
        <p:spPr>
          <a:xfrm>
            <a:off x="8116939" y="2339730"/>
            <a:ext cx="31862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Ensure secure access through authenticated user login.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9B3531-00FE-02D4-6A37-DAE979830A32}"/>
              </a:ext>
            </a:extLst>
          </p:cNvPr>
          <p:cNvSpPr txBox="1"/>
          <p:nvPr/>
        </p:nvSpPr>
        <p:spPr>
          <a:xfrm>
            <a:off x="585216" y="4125773"/>
            <a:ext cx="308753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Task Status Tracking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3EE705-4F94-6F8A-5C8D-86C082633CAC}"/>
              </a:ext>
            </a:extLst>
          </p:cNvPr>
          <p:cNvSpPr txBox="1"/>
          <p:nvPr/>
        </p:nvSpPr>
        <p:spPr>
          <a:xfrm>
            <a:off x="585216" y="4689043"/>
            <a:ext cx="3035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Track tasks based on their status: Pending, Completed, or Overdue.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4630C9-23A5-9271-9DFE-F90113F1F898}"/>
              </a:ext>
            </a:extLst>
          </p:cNvPr>
          <p:cNvSpPr txBox="1"/>
          <p:nvPr/>
        </p:nvSpPr>
        <p:spPr>
          <a:xfrm>
            <a:off x="4399945" y="4125773"/>
            <a:ext cx="3123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Productivity Enhancement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3D1AFB-F2C8-6A77-3D8A-C37005004F09}"/>
              </a:ext>
            </a:extLst>
          </p:cNvPr>
          <p:cNvSpPr txBox="1"/>
          <p:nvPr/>
        </p:nvSpPr>
        <p:spPr>
          <a:xfrm>
            <a:off x="4399945" y="4542739"/>
            <a:ext cx="30615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Assist users in managing time efficiently and completing tasks on schedule.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076E7E-9822-3F27-EE5E-BC9488DCDEFB}"/>
              </a:ext>
            </a:extLst>
          </p:cNvPr>
          <p:cNvSpPr txBox="1"/>
          <p:nvPr/>
        </p:nvSpPr>
        <p:spPr>
          <a:xfrm>
            <a:off x="8185709" y="4125773"/>
            <a:ext cx="3117463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Reporting &amp; Insights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ADC82F-A7B0-12EA-B960-966A0944F321}"/>
              </a:ext>
            </a:extLst>
          </p:cNvPr>
          <p:cNvSpPr txBox="1"/>
          <p:nvPr/>
        </p:nvSpPr>
        <p:spPr>
          <a:xfrm>
            <a:off x="8106227" y="4597890"/>
            <a:ext cx="3117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Provide users with task summaries and progress insights to help them analyze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3525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3CCC0-38C2-0560-E067-890F10A4D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E805F4F4-EA86-599C-4F55-8E6822102839}"/>
              </a:ext>
            </a:extLst>
          </p:cNvPr>
          <p:cNvSpPr/>
          <p:nvPr/>
        </p:nvSpPr>
        <p:spPr>
          <a:xfrm>
            <a:off x="-1" y="928632"/>
            <a:ext cx="12170190" cy="6399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lang="en-IN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A5D641-B8C2-0A31-6D70-EAD8FB99EFD3}"/>
              </a:ext>
            </a:extLst>
          </p:cNvPr>
          <p:cNvSpPr txBox="1"/>
          <p:nvPr/>
        </p:nvSpPr>
        <p:spPr>
          <a:xfrm>
            <a:off x="3338285" y="282301"/>
            <a:ext cx="5341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TECHNOLOGY STACK</a:t>
            </a:r>
          </a:p>
        </p:txBody>
      </p:sp>
      <p:sp>
        <p:nvSpPr>
          <p:cNvPr id="3" name="Freeform 11">
            <a:extLst>
              <a:ext uri="{FF2B5EF4-FFF2-40B4-BE49-F238E27FC236}">
                <a16:creationId xmlns:a16="http://schemas.microsoft.com/office/drawing/2014/main" id="{41F3BF25-2B84-7F1C-FFA4-000560F166DA}"/>
              </a:ext>
            </a:extLst>
          </p:cNvPr>
          <p:cNvSpPr/>
          <p:nvPr/>
        </p:nvSpPr>
        <p:spPr>
          <a:xfrm>
            <a:off x="898222" y="1568627"/>
            <a:ext cx="1917550" cy="1123773"/>
          </a:xfrm>
          <a:custGeom>
            <a:avLst/>
            <a:gdLst/>
            <a:ahLst/>
            <a:cxnLst/>
            <a:rect l="l" t="t" r="r" b="b"/>
            <a:pathLst>
              <a:path w="2383671" h="1360138">
                <a:moveTo>
                  <a:pt x="0" y="0"/>
                </a:moveTo>
                <a:lnTo>
                  <a:pt x="2383671" y="0"/>
                </a:lnTo>
                <a:lnTo>
                  <a:pt x="2383671" y="1360138"/>
                </a:lnTo>
                <a:lnTo>
                  <a:pt x="0" y="1360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12" t="-1101" b="-110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15">
            <a:extLst>
              <a:ext uri="{FF2B5EF4-FFF2-40B4-BE49-F238E27FC236}">
                <a16:creationId xmlns:a16="http://schemas.microsoft.com/office/drawing/2014/main" id="{F0EF7E18-30C3-AE54-3E2D-945D6CD7C579}"/>
              </a:ext>
            </a:extLst>
          </p:cNvPr>
          <p:cNvSpPr/>
          <p:nvPr/>
        </p:nvSpPr>
        <p:spPr>
          <a:xfrm>
            <a:off x="3643086" y="1603607"/>
            <a:ext cx="2120748" cy="1053812"/>
          </a:xfrm>
          <a:custGeom>
            <a:avLst/>
            <a:gdLst/>
            <a:ahLst/>
            <a:cxnLst/>
            <a:rect l="l" t="t" r="r" b="b"/>
            <a:pathLst>
              <a:path w="2818080" h="1360138">
                <a:moveTo>
                  <a:pt x="0" y="0"/>
                </a:moveTo>
                <a:lnTo>
                  <a:pt x="2818080" y="0"/>
                </a:lnTo>
                <a:lnTo>
                  <a:pt x="2818080" y="1360138"/>
                </a:lnTo>
                <a:lnTo>
                  <a:pt x="0" y="1360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819" b="-690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FF32A07E-3BC1-0F5E-9741-B39DCCF8D939}"/>
              </a:ext>
            </a:extLst>
          </p:cNvPr>
          <p:cNvSpPr/>
          <p:nvPr/>
        </p:nvSpPr>
        <p:spPr>
          <a:xfrm>
            <a:off x="6470051" y="1628718"/>
            <a:ext cx="2041263" cy="1088792"/>
          </a:xfrm>
          <a:custGeom>
            <a:avLst/>
            <a:gdLst/>
            <a:ahLst/>
            <a:cxnLst/>
            <a:rect l="l" t="t" r="r" b="b"/>
            <a:pathLst>
              <a:path w="2906870" h="1360138">
                <a:moveTo>
                  <a:pt x="0" y="0"/>
                </a:moveTo>
                <a:lnTo>
                  <a:pt x="2906870" y="0"/>
                </a:lnTo>
                <a:lnTo>
                  <a:pt x="2906870" y="1360138"/>
                </a:lnTo>
                <a:lnTo>
                  <a:pt x="0" y="1360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28" r="-2828" b="-178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9BE053C2-1361-C68C-6C96-F583FC540278}"/>
              </a:ext>
            </a:extLst>
          </p:cNvPr>
          <p:cNvSpPr/>
          <p:nvPr/>
        </p:nvSpPr>
        <p:spPr>
          <a:xfrm>
            <a:off x="9037676" y="1806097"/>
            <a:ext cx="2041263" cy="1088792"/>
          </a:xfrm>
          <a:custGeom>
            <a:avLst/>
            <a:gdLst/>
            <a:ahLst/>
            <a:cxnLst/>
            <a:rect l="l" t="t" r="r" b="b"/>
            <a:pathLst>
              <a:path w="2383671" h="1498754">
                <a:moveTo>
                  <a:pt x="0" y="0"/>
                </a:moveTo>
                <a:lnTo>
                  <a:pt x="2383671" y="0"/>
                </a:lnTo>
                <a:lnTo>
                  <a:pt x="2383671" y="1498754"/>
                </a:lnTo>
                <a:lnTo>
                  <a:pt x="0" y="14987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1244" b="-377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13">
            <a:extLst>
              <a:ext uri="{FF2B5EF4-FFF2-40B4-BE49-F238E27FC236}">
                <a16:creationId xmlns:a16="http://schemas.microsoft.com/office/drawing/2014/main" id="{4F4A404D-1B87-9575-9E40-AB983A45D5A4}"/>
              </a:ext>
            </a:extLst>
          </p:cNvPr>
          <p:cNvSpPr/>
          <p:nvPr/>
        </p:nvSpPr>
        <p:spPr>
          <a:xfrm>
            <a:off x="785991" y="4131928"/>
            <a:ext cx="2142011" cy="1272434"/>
          </a:xfrm>
          <a:custGeom>
            <a:avLst/>
            <a:gdLst/>
            <a:ahLst/>
            <a:cxnLst/>
            <a:rect l="l" t="t" r="r" b="b"/>
            <a:pathLst>
              <a:path w="2818080" h="1515901">
                <a:moveTo>
                  <a:pt x="0" y="0"/>
                </a:moveTo>
                <a:lnTo>
                  <a:pt x="2818080" y="0"/>
                </a:lnTo>
                <a:lnTo>
                  <a:pt x="2818080" y="1515901"/>
                </a:lnTo>
                <a:lnTo>
                  <a:pt x="0" y="15159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76" r="-4679" b="-83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12A05C-7799-8EC2-77E8-761CA1D23018}"/>
              </a:ext>
            </a:extLst>
          </p:cNvPr>
          <p:cNvSpPr txBox="1"/>
          <p:nvPr/>
        </p:nvSpPr>
        <p:spPr>
          <a:xfrm>
            <a:off x="811135" y="2836885"/>
            <a:ext cx="2563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SpringBoot</a:t>
            </a:r>
            <a:endParaRPr lang="en-IN" sz="2400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028" name="Picture 4" descr="This may contain: the logo for css2">
            <a:extLst>
              <a:ext uri="{FF2B5EF4-FFF2-40B4-BE49-F238E27FC236}">
                <a16:creationId xmlns:a16="http://schemas.microsoft.com/office/drawing/2014/main" id="{3BAFC115-C885-73B6-B0C9-BD7C16CF2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834" y="3606923"/>
            <a:ext cx="1913694" cy="2322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is may contain: the zl logo is shown above a yellow shield with white letters and black lettering">
            <a:extLst>
              <a:ext uri="{FF2B5EF4-FFF2-40B4-BE49-F238E27FC236}">
                <a16:creationId xmlns:a16="http://schemas.microsoft.com/office/drawing/2014/main" id="{8CD0DAB0-FE0B-CDEE-ED63-24BA5E12F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596" y="3993849"/>
            <a:ext cx="2615892" cy="1471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is may contain: an orange and white logo with the word'html'in black on top of it">
            <a:extLst>
              <a:ext uri="{FF2B5EF4-FFF2-40B4-BE49-F238E27FC236}">
                <a16:creationId xmlns:a16="http://schemas.microsoft.com/office/drawing/2014/main" id="{8146DD21-B39A-748C-D9F1-F9B490DB4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007" y="3992486"/>
            <a:ext cx="1471439" cy="1471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9E1A1B-290B-05BF-BE49-599294B73628}"/>
              </a:ext>
            </a:extLst>
          </p:cNvPr>
          <p:cNvSpPr txBox="1"/>
          <p:nvPr/>
        </p:nvSpPr>
        <p:spPr>
          <a:xfrm>
            <a:off x="3418115" y="2847428"/>
            <a:ext cx="2677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Spring Security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A11FE0-0266-E4A3-D339-AC1899012FF8}"/>
              </a:ext>
            </a:extLst>
          </p:cNvPr>
          <p:cNvSpPr txBox="1"/>
          <p:nvPr/>
        </p:nvSpPr>
        <p:spPr>
          <a:xfrm>
            <a:off x="6227895" y="2911413"/>
            <a:ext cx="2677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Spring Data JPA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F5281-0E37-4C82-8C8B-FEBA014D459C}"/>
              </a:ext>
            </a:extLst>
          </p:cNvPr>
          <p:cNvSpPr txBox="1"/>
          <p:nvPr/>
        </p:nvSpPr>
        <p:spPr>
          <a:xfrm>
            <a:off x="9378761" y="2967335"/>
            <a:ext cx="2677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My SQL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0A79F0-620D-F76D-50E0-33324534077D}"/>
              </a:ext>
            </a:extLst>
          </p:cNvPr>
          <p:cNvSpPr txBox="1"/>
          <p:nvPr/>
        </p:nvSpPr>
        <p:spPr>
          <a:xfrm>
            <a:off x="1371075" y="5658594"/>
            <a:ext cx="1096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Java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42B573-4B75-DA1E-B754-65DCBC943CB4}"/>
              </a:ext>
            </a:extLst>
          </p:cNvPr>
          <p:cNvSpPr txBox="1"/>
          <p:nvPr/>
        </p:nvSpPr>
        <p:spPr>
          <a:xfrm>
            <a:off x="3934346" y="5658593"/>
            <a:ext cx="1346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HTML5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3DB4C8-77CA-B794-9532-77184BD8F03A}"/>
              </a:ext>
            </a:extLst>
          </p:cNvPr>
          <p:cNvSpPr txBox="1"/>
          <p:nvPr/>
        </p:nvSpPr>
        <p:spPr>
          <a:xfrm>
            <a:off x="6275241" y="5701548"/>
            <a:ext cx="1096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CSS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D933C0-D3F4-F772-DE6F-5AF87ED5458D}"/>
              </a:ext>
            </a:extLst>
          </p:cNvPr>
          <p:cNvSpPr txBox="1"/>
          <p:nvPr/>
        </p:nvSpPr>
        <p:spPr>
          <a:xfrm>
            <a:off x="7984123" y="5621381"/>
            <a:ext cx="1843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Javascript</a:t>
            </a:r>
            <a:endParaRPr lang="en-IN" sz="2400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895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C3C0C-3FF8-CCCC-C93C-AFB9B73E0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67B5337C-4FB9-7429-1A6D-AB0DEFEEF489}"/>
              </a:ext>
            </a:extLst>
          </p:cNvPr>
          <p:cNvSpPr/>
          <p:nvPr/>
        </p:nvSpPr>
        <p:spPr>
          <a:xfrm>
            <a:off x="-1" y="928632"/>
            <a:ext cx="12170190" cy="6399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lang="en-IN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FFFF1D-BFFA-36CF-8634-48C2343C6209}"/>
              </a:ext>
            </a:extLst>
          </p:cNvPr>
          <p:cNvSpPr txBox="1"/>
          <p:nvPr/>
        </p:nvSpPr>
        <p:spPr>
          <a:xfrm>
            <a:off x="348344" y="416285"/>
            <a:ext cx="5399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System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4465A0-1A4A-98B0-10CD-9382E1A81DC9}"/>
              </a:ext>
            </a:extLst>
          </p:cNvPr>
          <p:cNvSpPr txBox="1"/>
          <p:nvPr/>
        </p:nvSpPr>
        <p:spPr>
          <a:xfrm>
            <a:off x="3350362" y="1568627"/>
            <a:ext cx="818570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Flow Overview</a:t>
            </a:r>
            <a:br>
              <a:rPr lang="en-IN" b="1" dirty="0"/>
            </a:b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Authentication Module</a:t>
            </a:r>
            <a:br>
              <a:rPr lang="en-IN" dirty="0"/>
            </a:br>
            <a:r>
              <a:rPr lang="en-IN" dirty="0"/>
              <a:t>Manages secure user login and registration using email-based OTP verification.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Dashboard Module</a:t>
            </a:r>
            <a:br>
              <a:rPr lang="en-IN" dirty="0"/>
            </a:br>
            <a:r>
              <a:rPr lang="en-IN" dirty="0"/>
              <a:t>Displays task summaries, pending and completed tasks, and overall progress.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Task Management Engine</a:t>
            </a:r>
            <a:br>
              <a:rPr lang="en-IN" dirty="0"/>
            </a:br>
            <a:r>
              <a:rPr lang="en-IN" dirty="0"/>
              <a:t>Handles task creation, editing, deletion, viewing, and status updates.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Automated Reminder &amp; Alert Engine</a:t>
            </a:r>
            <a:br>
              <a:rPr lang="en-IN" dirty="0"/>
            </a:br>
            <a:r>
              <a:rPr lang="en-IN" dirty="0"/>
              <a:t>Sends email reminders automatically before task deadlines.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950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3BE4A-2BEE-7BFE-13E7-5AB287DF2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C1F8BAD8-59A6-6FFF-2374-90BEA0859130}"/>
              </a:ext>
            </a:extLst>
          </p:cNvPr>
          <p:cNvSpPr/>
          <p:nvPr/>
        </p:nvSpPr>
        <p:spPr>
          <a:xfrm>
            <a:off x="-1" y="928632"/>
            <a:ext cx="12170190" cy="6399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lang="en-IN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FD7E33-46C9-B83E-AE65-F8FDD4F2C3C0}"/>
              </a:ext>
            </a:extLst>
          </p:cNvPr>
          <p:cNvSpPr txBox="1"/>
          <p:nvPr/>
        </p:nvSpPr>
        <p:spPr>
          <a:xfrm>
            <a:off x="3679372" y="459730"/>
            <a:ext cx="5399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Modules Implemented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40D41D-E770-0359-346C-3B9CA198FC5A}"/>
              </a:ext>
            </a:extLst>
          </p:cNvPr>
          <p:cNvSpPr/>
          <p:nvPr/>
        </p:nvSpPr>
        <p:spPr>
          <a:xfrm>
            <a:off x="6560458" y="2328127"/>
            <a:ext cx="5334000" cy="8817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9F7F1E-C97C-8FA2-3203-0022FB4F9590}"/>
              </a:ext>
            </a:extLst>
          </p:cNvPr>
          <p:cNvSpPr/>
          <p:nvPr/>
        </p:nvSpPr>
        <p:spPr>
          <a:xfrm>
            <a:off x="899886" y="2328127"/>
            <a:ext cx="5334000" cy="8817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7F9C50-F95F-92DE-9766-8AE24D52D6C5}"/>
              </a:ext>
            </a:extLst>
          </p:cNvPr>
          <p:cNvSpPr/>
          <p:nvPr/>
        </p:nvSpPr>
        <p:spPr>
          <a:xfrm>
            <a:off x="841830" y="4316911"/>
            <a:ext cx="5334000" cy="8817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ECCC19-4EEF-F7A8-FB7F-6B6B9327C907}"/>
              </a:ext>
            </a:extLst>
          </p:cNvPr>
          <p:cNvSpPr/>
          <p:nvPr/>
        </p:nvSpPr>
        <p:spPr>
          <a:xfrm>
            <a:off x="6741306" y="4314789"/>
            <a:ext cx="5334000" cy="8817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9FD6BE-C447-7930-01E4-77B226A5DA78}"/>
              </a:ext>
            </a:extLst>
          </p:cNvPr>
          <p:cNvSpPr txBox="1"/>
          <p:nvPr/>
        </p:nvSpPr>
        <p:spPr>
          <a:xfrm>
            <a:off x="1016696" y="1968082"/>
            <a:ext cx="5137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Task overview and progress visualization</a:t>
            </a:r>
          </a:p>
          <a:p>
            <a:pPr algn="ctr"/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77BF1A-94BB-B445-FD58-C0807E37FC73}"/>
              </a:ext>
            </a:extLst>
          </p:cNvPr>
          <p:cNvSpPr txBox="1"/>
          <p:nvPr/>
        </p:nvSpPr>
        <p:spPr>
          <a:xfrm>
            <a:off x="6893666" y="2004658"/>
            <a:ext cx="5276523" cy="38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Task statistics and performance insights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E86DA8-977F-DAE0-06C6-DA5E20715DBF}"/>
              </a:ext>
            </a:extLst>
          </p:cNvPr>
          <p:cNvSpPr txBox="1"/>
          <p:nvPr/>
        </p:nvSpPr>
        <p:spPr>
          <a:xfrm>
            <a:off x="1447017" y="3969718"/>
            <a:ext cx="4464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Real-time task status updates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B2A398-FC3F-9CAD-0002-F6D87EDFDAAD}"/>
              </a:ext>
            </a:extLst>
          </p:cNvPr>
          <p:cNvSpPr txBox="1"/>
          <p:nvPr/>
        </p:nvSpPr>
        <p:spPr>
          <a:xfrm>
            <a:off x="7210755" y="3945457"/>
            <a:ext cx="4864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Notification Management Module</a:t>
            </a:r>
          </a:p>
        </p:txBody>
      </p:sp>
    </p:spTree>
    <p:extLst>
      <p:ext uri="{BB962C8B-B14F-4D97-AF65-F5344CB8AC3E}">
        <p14:creationId xmlns:p14="http://schemas.microsoft.com/office/powerpoint/2010/main" val="1861232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AA0C5-9417-3BB6-F2F9-5CEDB61C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2BAF8743-2AC9-5794-5AA6-CB08174C2999}"/>
              </a:ext>
            </a:extLst>
          </p:cNvPr>
          <p:cNvSpPr/>
          <p:nvPr/>
        </p:nvSpPr>
        <p:spPr>
          <a:xfrm>
            <a:off x="-1" y="928632"/>
            <a:ext cx="12170190" cy="6399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lang="en-IN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9E2768-F4F9-BC39-C775-F627E5C55DE2}"/>
              </a:ext>
            </a:extLst>
          </p:cNvPr>
          <p:cNvSpPr txBox="1"/>
          <p:nvPr/>
        </p:nvSpPr>
        <p:spPr>
          <a:xfrm>
            <a:off x="5573487" y="231420"/>
            <a:ext cx="5399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Key Features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22ADD502-FC72-6495-D7B4-15303A3492B4}"/>
              </a:ext>
            </a:extLst>
          </p:cNvPr>
          <p:cNvSpPr/>
          <p:nvPr/>
        </p:nvSpPr>
        <p:spPr>
          <a:xfrm>
            <a:off x="4209141" y="1463774"/>
            <a:ext cx="7794172" cy="965200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1BF25E59-0C1B-2E8A-A760-33D3CC6B4701}"/>
              </a:ext>
            </a:extLst>
          </p:cNvPr>
          <p:cNvSpPr/>
          <p:nvPr/>
        </p:nvSpPr>
        <p:spPr>
          <a:xfrm>
            <a:off x="4143827" y="2812910"/>
            <a:ext cx="7794172" cy="965200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3F94FC43-D251-00E5-4179-81EB90EAE27A}"/>
              </a:ext>
            </a:extLst>
          </p:cNvPr>
          <p:cNvSpPr/>
          <p:nvPr/>
        </p:nvSpPr>
        <p:spPr>
          <a:xfrm>
            <a:off x="4143827" y="4146655"/>
            <a:ext cx="7794172" cy="965200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276A8399-D7EB-5E09-79C9-4747B8E2E9F3}"/>
              </a:ext>
            </a:extLst>
          </p:cNvPr>
          <p:cNvSpPr/>
          <p:nvPr/>
        </p:nvSpPr>
        <p:spPr>
          <a:xfrm>
            <a:off x="4143827" y="5446768"/>
            <a:ext cx="7794172" cy="965200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869D5E-4C09-E41E-441A-615B312124B2}"/>
              </a:ext>
            </a:extLst>
          </p:cNvPr>
          <p:cNvSpPr txBox="1"/>
          <p:nvPr/>
        </p:nvSpPr>
        <p:spPr>
          <a:xfrm>
            <a:off x="5493714" y="1383961"/>
            <a:ext cx="485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Task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F72FB3-9D81-E841-8ABE-E0C6C582EAEB}"/>
              </a:ext>
            </a:extLst>
          </p:cNvPr>
          <p:cNvSpPr txBox="1"/>
          <p:nvPr/>
        </p:nvSpPr>
        <p:spPr>
          <a:xfrm>
            <a:off x="4662753" y="1898374"/>
            <a:ext cx="687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Create, update, delete, and monitor tasks effectively.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98D857-42E4-ADED-2A0A-DC6D25AE20AE}"/>
              </a:ext>
            </a:extLst>
          </p:cNvPr>
          <p:cNvSpPr txBox="1"/>
          <p:nvPr/>
        </p:nvSpPr>
        <p:spPr>
          <a:xfrm>
            <a:off x="5322041" y="2758721"/>
            <a:ext cx="5230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Email Reminders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3330FD-A505-2B70-536D-2BF0D840C0EF}"/>
              </a:ext>
            </a:extLst>
          </p:cNvPr>
          <p:cNvSpPr txBox="1"/>
          <p:nvPr/>
        </p:nvSpPr>
        <p:spPr>
          <a:xfrm>
            <a:off x="4557370" y="3230010"/>
            <a:ext cx="6561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Automated email alerts for upcoming and overdue tasks.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BD4DB9-A6C5-D4F3-DB5F-9BA0A8F0C8AD}"/>
              </a:ext>
            </a:extLst>
          </p:cNvPr>
          <p:cNvSpPr txBox="1"/>
          <p:nvPr/>
        </p:nvSpPr>
        <p:spPr>
          <a:xfrm>
            <a:off x="4758536" y="4113023"/>
            <a:ext cx="6327648" cy="38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Status Tracking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7F9AEB-27E5-24D9-14B1-77D93D13430B}"/>
              </a:ext>
            </a:extLst>
          </p:cNvPr>
          <p:cNvSpPr txBox="1"/>
          <p:nvPr/>
        </p:nvSpPr>
        <p:spPr>
          <a:xfrm>
            <a:off x="4557370" y="4493413"/>
            <a:ext cx="679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Tasks are categorized as Pending, Completed, or Overdue.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ECB221-ABF4-E360-12C3-F080AF100E01}"/>
              </a:ext>
            </a:extLst>
          </p:cNvPr>
          <p:cNvSpPr txBox="1"/>
          <p:nvPr/>
        </p:nvSpPr>
        <p:spPr>
          <a:xfrm>
            <a:off x="5164529" y="5394226"/>
            <a:ext cx="5515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Secure Authentication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2FD87A-7195-07F7-395F-7A41B17DE626}"/>
              </a:ext>
            </a:extLst>
          </p:cNvPr>
          <p:cNvSpPr txBox="1"/>
          <p:nvPr/>
        </p:nvSpPr>
        <p:spPr>
          <a:xfrm>
            <a:off x="4454957" y="5808269"/>
            <a:ext cx="689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Ensures safe user access and data protection.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087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DA2EF-79D1-AC86-1618-E154CE069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AE2DA2E1-7864-0969-8B45-25DA8EA3EBC1}"/>
              </a:ext>
            </a:extLst>
          </p:cNvPr>
          <p:cNvSpPr/>
          <p:nvPr/>
        </p:nvSpPr>
        <p:spPr>
          <a:xfrm>
            <a:off x="1872340" y="1429375"/>
            <a:ext cx="3505203" cy="18896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F0E040-8C7B-B32A-292F-F30586266B61}"/>
              </a:ext>
            </a:extLst>
          </p:cNvPr>
          <p:cNvSpPr txBox="1"/>
          <p:nvPr/>
        </p:nvSpPr>
        <p:spPr>
          <a:xfrm>
            <a:off x="3135087" y="365485"/>
            <a:ext cx="5399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Challenges &amp; Learning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A685970-EA24-F525-6A7F-23D935533B40}"/>
              </a:ext>
            </a:extLst>
          </p:cNvPr>
          <p:cNvSpPr/>
          <p:nvPr/>
        </p:nvSpPr>
        <p:spPr>
          <a:xfrm>
            <a:off x="1236133" y="2035901"/>
            <a:ext cx="5005009" cy="3748042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Task scheduling and reminder implementation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Date and time handling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Email notification configuration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Task status synchronization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Runtime and null pointer exceptions</a:t>
            </a: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E8AFBB-C3AB-ED56-24C4-6911E60DB77F}"/>
              </a:ext>
            </a:extLst>
          </p:cNvPr>
          <p:cNvSpPr/>
          <p:nvPr/>
        </p:nvSpPr>
        <p:spPr>
          <a:xfrm>
            <a:off x="6574971" y="1930400"/>
            <a:ext cx="4927600" cy="385354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04E695-AFE1-C6E3-F495-B04F5BF40873}"/>
              </a:ext>
            </a:extLst>
          </p:cNvPr>
          <p:cNvSpPr txBox="1"/>
          <p:nvPr/>
        </p:nvSpPr>
        <p:spPr>
          <a:xfrm>
            <a:off x="7369628" y="1407180"/>
            <a:ext cx="33382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Gained:</a:t>
            </a:r>
            <a:endParaRPr lang="en-IN" sz="28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97D7B58-6EEA-D553-72BA-BC74FE1EE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2A2272-1171-1F64-82B0-FAC976E4861A}"/>
              </a:ext>
            </a:extLst>
          </p:cNvPr>
          <p:cNvSpPr txBox="1"/>
          <p:nvPr/>
        </p:nvSpPr>
        <p:spPr>
          <a:xfrm>
            <a:off x="7162800" y="2184400"/>
            <a:ext cx="37930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Spring Boot and MVC architecture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Email service integration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Debugging and exception handling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Background job execution using Spring Scheduler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Backend logic and application design</a:t>
            </a:r>
          </a:p>
          <a:p>
            <a:endParaRPr lang="en-IN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C1C7AFDD-CF3A-16BE-016B-CB2E7936B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789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01A40-A6B8-7C23-E193-334E0AC9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1EB597F9-8F8D-131A-104D-E36EB75582EF}"/>
              </a:ext>
            </a:extLst>
          </p:cNvPr>
          <p:cNvSpPr/>
          <p:nvPr/>
        </p:nvSpPr>
        <p:spPr>
          <a:xfrm>
            <a:off x="-1" y="928632"/>
            <a:ext cx="12170190" cy="6399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lang="en-IN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1A3502-B7A2-F73F-D878-09164FEEB849}"/>
              </a:ext>
            </a:extLst>
          </p:cNvPr>
          <p:cNvSpPr txBox="1"/>
          <p:nvPr/>
        </p:nvSpPr>
        <p:spPr>
          <a:xfrm>
            <a:off x="3185887" y="343713"/>
            <a:ext cx="5399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Future Enhancements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288860-7324-24F0-8A41-91039A85494D}"/>
              </a:ext>
            </a:extLst>
          </p:cNvPr>
          <p:cNvSpPr txBox="1"/>
          <p:nvPr/>
        </p:nvSpPr>
        <p:spPr>
          <a:xfrm>
            <a:off x="2125132" y="1447800"/>
            <a:ext cx="991446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Mobile App &amp; Notification Support:</a:t>
            </a:r>
          </a:p>
          <a:p>
            <a:r>
              <a:rPr lang="en-US" dirty="0"/>
              <a:t>Extend the application to mobile platforms with push notifications for real-time reminders.</a:t>
            </a:r>
            <a:br>
              <a:rPr lang="en-US" dirty="0"/>
            </a:br>
            <a:endParaRPr lang="en-US" dirty="0"/>
          </a:p>
          <a:p>
            <a:r>
              <a:rPr lang="en-US" sz="2000" b="1" dirty="0"/>
              <a:t>Multi-User Collaboration:</a:t>
            </a:r>
          </a:p>
          <a:p>
            <a:r>
              <a:rPr lang="en-US" dirty="0"/>
              <a:t>Allow users to share tasks, assign responsibilities, and track collaborative progress.</a:t>
            </a:r>
            <a:br>
              <a:rPr lang="en-US" dirty="0"/>
            </a:br>
            <a:endParaRPr lang="en-US" dirty="0"/>
          </a:p>
          <a:p>
            <a:r>
              <a:rPr lang="en-US" sz="2000" b="1" dirty="0"/>
              <a:t>Calendar Integration:</a:t>
            </a:r>
          </a:p>
          <a:p>
            <a:r>
              <a:rPr lang="en-US" dirty="0"/>
              <a:t>Automatically sync tasks and deadlines with Google Calendar to improve planning and avoid missed schedules.</a:t>
            </a:r>
            <a:br>
              <a:rPr lang="en-US" dirty="0"/>
            </a:br>
            <a:endParaRPr lang="en-US" dirty="0"/>
          </a:p>
          <a:p>
            <a:r>
              <a:rPr lang="en-US" sz="2000" b="1" dirty="0"/>
              <a:t>Cloud Deployment:</a:t>
            </a:r>
          </a:p>
          <a:p>
            <a:r>
              <a:rPr lang="en-US" dirty="0"/>
              <a:t>Deploy the application on cloud platforms such as AWS to enhance scalability, monitoring, and real-world usability.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313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BD197-2890-49E9-3E42-E79F2EAC7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6F04B11F-05EE-413B-90BF-CA8208C5CB6D}"/>
              </a:ext>
            </a:extLst>
          </p:cNvPr>
          <p:cNvSpPr/>
          <p:nvPr/>
        </p:nvSpPr>
        <p:spPr>
          <a:xfrm>
            <a:off x="-1" y="928632"/>
            <a:ext cx="12170190" cy="6399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lang="en-IN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30877A-8B77-AAB5-20B4-CEA9664D6ABA}"/>
              </a:ext>
            </a:extLst>
          </p:cNvPr>
          <p:cNvSpPr txBox="1"/>
          <p:nvPr/>
        </p:nvSpPr>
        <p:spPr>
          <a:xfrm>
            <a:off x="1923143" y="2005600"/>
            <a:ext cx="76707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        THANK</a:t>
            </a:r>
          </a:p>
          <a:p>
            <a:pPr algn="ctr"/>
            <a:r>
              <a:rPr lang="en-IN" sz="80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 YOU</a:t>
            </a:r>
          </a:p>
        </p:txBody>
      </p:sp>
    </p:spTree>
    <p:extLst>
      <p:ext uri="{BB962C8B-B14F-4D97-AF65-F5344CB8AC3E}">
        <p14:creationId xmlns:p14="http://schemas.microsoft.com/office/powerpoint/2010/main" val="276749678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1435</TotalTime>
  <Words>443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Rounded MT Bold</vt:lpstr>
      <vt:lpstr>Calibri</vt:lpstr>
      <vt:lpstr>Century Gothic</vt:lpstr>
      <vt:lpstr>Times New Roman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Msoffice548</dc:creator>
  <cp:lastModifiedBy>Anurag Singh</cp:lastModifiedBy>
  <cp:revision>27</cp:revision>
  <dcterms:created xsi:type="dcterms:W3CDTF">2025-09-09T09:05:19Z</dcterms:created>
  <dcterms:modified xsi:type="dcterms:W3CDTF">2026-01-30T14:37:27Z</dcterms:modified>
</cp:coreProperties>
</file>